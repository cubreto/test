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463040" cy="76200"/>
          </a:xfrm>
          <a:prstGeom prst="rect">
            <a:avLst/>
          </a:prstGeom>
          <a:solidFill>
            <a:srgbClr val="E89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Code Graph Modernization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200" b="0" i="0">
                <a:solidFill>
                  <a:srgbClr val="149EC8"/>
                </a:solidFill>
                <a:latin typeface="Calibri"/>
              </a:rPr>
              <a:t>A trustworthy code knowledge graph for legacy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F2F5F8"/>
                </a:solidFill>
                <a:latin typeface="Calibri"/>
              </a:rPr>
              <a:t>Deterministic graph extraction · KDM-lite schema · GraphRAG &amp; RAG on top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8A97A3"/>
                </a:solidFill>
                <a:latin typeface="Calibri"/>
              </a:rPr>
              <a:t>Open-source learning sandbox  →  TCS / MasterCraft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Technical review for Brajesh</a:t>
            </a:r>
            <a:r>
              <a:rPr sz="1400" b="0" i="0">
                <a:solidFill>
                  <a:srgbClr val="8A97A3"/>
                </a:solidFill>
                <a:latin typeface="Calibri"/>
              </a:rPr>
              <a:t>      ·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WHY THIS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Modernization needs a graph you can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A4A5A"/>
                </a:solidFill>
                <a:latin typeface="Calibri"/>
              </a:rPr>
              <a:t>Legacy estates (COBOL / JCL / copybooks) have the business logic but no reliable map: what calls what, what reads/writes which data, where the integration seams are.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A4A5A"/>
                </a:solidFill>
                <a:latin typeface="Calibri"/>
              </a:rPr>
              <a:t>Modernization decisions — sequencing, risk, scope — hinge on that map. Getting it wrong is expensive.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3A4A5A"/>
                </a:solidFill>
                <a:latin typeface="Calibri"/>
              </a:rPr>
              <a:t>The tempting shortcut: point an LLM at raw code and ask it to describe the system.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8A97A3"/>
                </a:solidFill>
                <a:latin typeface="Calibri"/>
              </a:rPr>
              <a:t>      –  </a:t>
            </a:r>
            <a:r>
              <a:rPr sz="1400" b="0" i="0">
                <a:solidFill>
                  <a:srgbClr val="B03A2E"/>
                </a:solidFill>
                <a:latin typeface="Calibri"/>
              </a:rPr>
              <a:t>Plausible prose, but non-deterministic and unverifiable — you cannot stake a migration plan on it.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0B2447"/>
                </a:solidFill>
                <a:latin typeface="Calibri"/>
              </a:rPr>
              <a:t>What we actually need: a typed, evidence-backed dependency graph, with LLM techniques layered on top to explain and draft — never to invent the 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89B1D"/>
                </a:solidFill>
                <a:latin typeface="Calibri"/>
              </a:rPr>
              <a:t>Design principle: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structure is derived deterministically; GraphRAG/LLM sits on top; every claim cites source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One pipeline, four stages, evidence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084831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084831" cy="88900"/>
          </a:xfrm>
          <a:prstGeom prst="rect">
            <a:avLst/>
          </a:prstGeom>
          <a:solidFill>
            <a:srgbClr val="3A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84832"/>
            <a:ext cx="1865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3A4A5A"/>
                </a:solidFill>
                <a:latin typeface="Calibri"/>
              </a:rPr>
              <a:t>Legacy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78608"/>
            <a:ext cx="1865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COBOL · copybooks · JCL ·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3" y="246888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89B1D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2343" y="1920240"/>
            <a:ext cx="2084831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52343" y="1920240"/>
            <a:ext cx="2084831" cy="889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1" y="2084832"/>
            <a:ext cx="1865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[1] Extractor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1" y="2578608"/>
            <a:ext cx="1865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heuristic now →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MasterCraft adapter 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6" y="246888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89B1D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1766" y="1920240"/>
            <a:ext cx="2084831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1766" y="1920240"/>
            <a:ext cx="2084831" cy="889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494" y="2084832"/>
            <a:ext cx="1865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2447"/>
                </a:solidFill>
                <a:latin typeface="Calibri"/>
              </a:rPr>
              <a:t>[2] KDM-lite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4" y="2578608"/>
            <a:ext cx="1865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typed nodes + edges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+ source-line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09" y="246888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89B1D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1189" y="1920240"/>
            <a:ext cx="2084831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51189" y="1920240"/>
            <a:ext cx="2084831" cy="889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7" y="2084832"/>
            <a:ext cx="1865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[3]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7" y="2578608"/>
            <a:ext cx="1865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functional-area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2" y="246888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89B1D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0612" y="1920240"/>
            <a:ext cx="2084831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0612" y="1920240"/>
            <a:ext cx="2084831" cy="889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340" y="2084832"/>
            <a:ext cx="1865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2447"/>
                </a:solidFill>
                <a:latin typeface="Calibri"/>
              </a:rPr>
              <a:t>[4] Grounded specs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0" y="2578608"/>
            <a:ext cx="1865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evidence-cited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3A4A5A"/>
                </a:solidFill>
                <a:latin typeface="Calibri"/>
              </a:rPr>
              <a:t>markdown specs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77639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A4A5A"/>
                </a:solidFill>
                <a:latin typeface="Calibri"/>
              </a:rPr>
              <a:t>Branch at [2]: load into Neo4j for interactive Cypher / GDS, and run GraphRAG + simple-RAG over the same corpus.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2E8B57"/>
                </a:solidFill>
                <a:latin typeface="Calibri"/>
              </a:rPr>
              <a:t>Core path is stdlib-only — no DB, no pip — so it runs anywhere, including locked-down sandboxes.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F2F5F8"/>
          </a:solidFill>
          <a:ln w="12700">
            <a:solidFill>
              <a:srgbClr val="14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2447"/>
                </a:solidFill>
                <a:latin typeface="Calibri"/>
              </a:rPr>
              <a:t>Output  →  functional specs + integration points  →  modernization backlog (next phase)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KDM-lite: an open stand-in for the MasterCraft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3A4A5A"/>
                </a:solidFill>
                <a:latin typeface="Calibri"/>
              </a:rPr>
              <a:t>A property-graph subset of OMG KDM (ISO/IEC 19506), the standard MasterCraft aligns to. Same node/edge concepts MasterCraft emits — so only the extractor swaps at the TCS boundary.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57400"/>
          <a:ext cx="54864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17373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KDM-lite node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KDM origin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MasterCraft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Program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code:CompilationUnit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Program / Class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Function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code:CallableUnit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Paragraph / Method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Screen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ui:Screen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Screen / Map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DataStore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data:RelationalTable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File / Table / Queue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Job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platform:DeployedComp.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Batch Job / JCL Step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2057400"/>
          <a:ext cx="5349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060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KDM-lite edge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MasterCraft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CALLS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READS_FROM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READS_FROM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WRITES_TO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WRITES_TO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USES_COPYBOOK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USES_COPYBOOK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onsolas"/>
                        </a:rPr>
                        <a:t>JOB_RUNS_PROGRAM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A4A5A"/>
                          </a:solidFill>
                          <a:latin typeface="Calibri"/>
                        </a:rPr>
                        <a:t>JOB_RUNS_PROGRAM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89B1D"/>
                </a:solidFill>
                <a:latin typeface="Calibri"/>
              </a:rPr>
              <a:t>Evidence contract (non-negotiable):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every node &amp; edge carries source_artifact, source_lines, extraction_method, confidence.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7A3"/>
                </a:solidFill>
                <a:latin typeface="Calibri"/>
              </a:rPr>
              <a:t>Deterministic facts are distinguishable from inferred ones; sandbox stamps heuristic-cobol-v0 / 0.7, MasterCraft would stamp ≈1.0.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THE 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Deterministic structure, every fact stamped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A4A5A"/>
                </a:solidFill>
                <a:latin typeface="Calibri"/>
              </a:rPr>
              <a:t>Heuristic COBOL/JCL reader (stdlib only) → typed KDM-lite nodes &amp; edges.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 i="0">
                <a:solidFill>
                  <a:srgbClr val="8A97A3"/>
                </a:solidFill>
                <a:latin typeface="Calibri"/>
              </a:rPr>
              <a:t>      –  </a:t>
            </a:r>
            <a:r>
              <a:rPr sz="1400" b="0" i="0">
                <a:solidFill>
                  <a:srgbClr val="3A4A5A"/>
                </a:solidFill>
                <a:latin typeface="Calibri"/>
              </a:rPr>
              <a:t>Detects: program CALLS, file/table READS_FROM / WRITES_TO, USES_COPYBOOK, screen → program, JCL job → program.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0B2447"/>
                </a:solidFill>
                <a:latin typeface="Calibri"/>
              </a:rPr>
              <a:t>Every fact carries its provenance — nothing is asserted without a source line: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1064240" cy="1463040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49EC8"/>
                </a:solidFill>
                <a:latin typeface="Consolas"/>
              </a:rPr>
              <a:t>ACCTPOST</a:t>
            </a:r>
            <a:r>
              <a:rPr sz="1300" b="0" i="0">
                <a:solidFill>
                  <a:srgbClr val="8A97A3"/>
                </a:solidFill>
                <a:latin typeface="Consolas"/>
              </a:rPr>
              <a:t>  --CALLS--&gt;  </a:t>
            </a:r>
            <a:r>
              <a:rPr sz="1300" b="0" i="0">
                <a:solidFill>
                  <a:srgbClr val="FFFFFF"/>
                </a:solidFill>
                <a:latin typeface="Consolas"/>
              </a:rPr>
              <a:t>(missing)        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49EC8"/>
                </a:solidFill>
                <a:latin typeface="Consolas"/>
              </a:rPr>
              <a:t>CUSTMGMT</a:t>
            </a:r>
            <a:r>
              <a:rPr sz="1300" b="0" i="0">
                <a:solidFill>
                  <a:srgbClr val="8A97A3"/>
                </a:solidFill>
                <a:latin typeface="Consolas"/>
              </a:rPr>
              <a:t>  --READS_FROM--&gt;  </a:t>
            </a:r>
            <a:r>
              <a:rPr sz="1300" b="1" i="0">
                <a:solidFill>
                  <a:srgbClr val="FFFFFF"/>
                </a:solidFill>
                <a:latin typeface="Consolas"/>
              </a:rPr>
              <a:t>CUSTOMER-FILE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8A97A3"/>
                </a:solidFill>
                <a:latin typeface="Consolas"/>
              </a:rPr>
              <a:t>   source_artifact: </a:t>
            </a:r>
            <a:r>
              <a:rPr sz="1200" b="0" i="0">
                <a:solidFill>
                  <a:srgbClr val="E89B1D"/>
                </a:solidFill>
                <a:latin typeface="Consolas"/>
              </a:rPr>
              <a:t>CUSTMGMT.CBL</a:t>
            </a:r>
            <a:r>
              <a:rPr sz="1200" b="0" i="0">
                <a:solidFill>
                  <a:srgbClr val="8A97A3"/>
                </a:solidFill>
                <a:latin typeface="Consolas"/>
              </a:rPr>
              <a:t>   lines: </a:t>
            </a:r>
            <a:r>
              <a:rPr sz="1200" b="0" i="0">
                <a:solidFill>
                  <a:srgbClr val="E89B1D"/>
                </a:solidFill>
                <a:latin typeface="Consolas"/>
              </a:rPr>
              <a:t>28</a:t>
            </a:r>
            <a:r>
              <a:rPr sz="1200" b="0" i="0">
                <a:solidFill>
                  <a:srgbClr val="8A97A3"/>
                </a:solidFill>
                <a:latin typeface="Consolas"/>
              </a:rPr>
              <a:t>   method: </a:t>
            </a:r>
            <a:r>
              <a:rPr sz="1200" b="0" i="0">
                <a:solidFill>
                  <a:srgbClr val="2E8B57"/>
                </a:solidFill>
                <a:latin typeface="Consolas"/>
              </a:rPr>
              <a:t>heuristic-cobol-v0</a:t>
            </a:r>
            <a:r>
              <a:rPr sz="1200" b="0" i="0">
                <a:solidFill>
                  <a:srgbClr val="8A97A3"/>
                </a:solidFill>
                <a:latin typeface="Consolas"/>
              </a:rPr>
              <a:t>   confidence: </a:t>
            </a:r>
            <a:r>
              <a:rPr sz="1200" b="0" i="0">
                <a:solidFill>
                  <a:srgbClr val="2E8B57"/>
                </a:solidFill>
                <a:latin typeface="Consolas"/>
              </a:rPr>
              <a:t>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A4A5A"/>
                </a:solidFill>
                <a:latin typeface="Calibri"/>
              </a:rPr>
              <a:t>Low-confidence facts (e.g. inferred screens, 0.5) are queryable separately — reviewers audit them first.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0B2447"/>
                </a:solidFill>
                <a:latin typeface="Calibri"/>
              </a:rPr>
              <a:t>At the TCS boundary the heuristic is replaced by a MasterCraft-inventory adapter; same graph, facts stamped deterministic (~1.0).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PROOF ON A SAMPLE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16 nodes · 19 edges · 3 functional areas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103120" cy="10515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76200" cy="105156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939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149EC8"/>
                </a:solidFill>
                <a:latin typeface="Calibri"/>
              </a:rPr>
              <a:t>programs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417320"/>
            <a:ext cx="2103120" cy="10515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417320"/>
            <a:ext cx="76200" cy="105156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527048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0939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149EC8"/>
                </a:solidFill>
                <a:latin typeface="Calibri"/>
              </a:rPr>
              <a:t>copybooks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2624" y="1417320"/>
            <a:ext cx="2103120" cy="10515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92624" y="1417320"/>
            <a:ext cx="76200" cy="105156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27048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0939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149EC8"/>
                </a:solidFill>
                <a:latin typeface="Calibri"/>
              </a:rPr>
              <a:t>JCL job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4616" y="1417320"/>
            <a:ext cx="2103120" cy="10515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14616" y="1417320"/>
            <a:ext cx="76200" cy="105156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6" y="1527048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20939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149EC8"/>
                </a:solidFill>
                <a:latin typeface="Calibri"/>
              </a:rPr>
              <a:t>SQL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36608" y="1417320"/>
            <a:ext cx="2103120" cy="10515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36608" y="1417320"/>
            <a:ext cx="76200" cy="105156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1527048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0939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149EC8"/>
                </a:solidFill>
                <a:latin typeface="Calibri"/>
              </a:rPr>
              <a:t>functional areas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A4A5A"/>
                </a:solidFill>
                <a:latin typeface="Calibri"/>
              </a:rPr>
              <a:t>Customer mgmt &amp; daily reporting — CUSTMGMT (screen), DAILYRPT (batch via DAILYJOB) over CUSTOMER-FILE / REPORT-FILE.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A4A5A"/>
                </a:solidFill>
                <a:latin typeface="Calibri"/>
              </a:rPr>
              <a:t>Account posting — ACCTPOST over ACCOUNT / TRANSACTION (DB2).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A4A5A"/>
                </a:solidFill>
                <a:latin typeface="Calibri"/>
              </a:rPr>
              <a:t>Parts ordering — PARTORDR (screen) over PARTS / ORDERS.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11064240" cy="1874519"/>
          </a:xfrm>
          <a:prstGeom prst="rect">
            <a:avLst/>
          </a:prstGeom>
          <a:solidFill>
            <a:srgbClr val="F2F5F8"/>
          </a:solidFill>
          <a:ln w="25400">
            <a:solidFill>
              <a:srgbClr val="E89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80560"/>
            <a:ext cx="106070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0B2447"/>
                </a:solidFill>
                <a:latin typeface="Calibri"/>
              </a:rPr>
              <a:t>Cross-area edges = the integration contracts that drive sequencing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3A4A5A"/>
                </a:solidFill>
                <a:latin typeface="Consolas"/>
              </a:rPr>
              <a:t>CUSTMGMT  CALLS  ACCTPOST</a:t>
            </a:r>
            <a:r>
              <a:rPr sz="1300" b="0" i="0">
                <a:solidFill>
                  <a:srgbClr val="3A4A5A"/>
                </a:solidFill>
                <a:latin typeface="Calibri"/>
              </a:rPr>
              <a:t>   — customer screen reaches into account posting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3A4A5A"/>
                </a:solidFill>
                <a:latin typeface="Consolas"/>
              </a:rPr>
              <a:t>DAILYRPT  READS_FROM  ACCOUNT</a:t>
            </a:r>
            <a:r>
              <a:rPr sz="1300" b="0" i="0">
                <a:solidFill>
                  <a:srgbClr val="3A4A5A"/>
                </a:solidFill>
                <a:latin typeface="Calibri"/>
              </a:rPr>
              <a:t>   — reporting depends on the posting area's data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1">
                <a:solidFill>
                  <a:srgbClr val="3A4A5A"/>
                </a:solidFill>
                <a:latin typeface="Calibri"/>
              </a:rPr>
              <a:t>These cross-cluster dependencies are the contracts and risks to manage when you carve the estate.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THREE RETRIEVAL/GENERATION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Same corpus, different trust profiles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2468880"/>
                <a:gridCol w="219456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marL="73152" marR="54864" marT="18288" marB="18288" anchor="ctr">
                    <a:solidFill>
                      <a:srgbClr val="0B244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onsolas"/>
                        </a:rPr>
                        <a:t>Graph + spec gen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Deterministic parse → typed graph → cluster → spec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Evidence-cited specs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High / auditable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onsolas"/>
                        </a:rPr>
                        <a:t>GraphRAG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LLM extracts entities+rels → communities → reports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Discovery, summaries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Needs validation</a:t>
                      </a:r>
                    </a:p>
                  </a:txBody>
                  <a:tcPr marL="73152" marR="54864" marT="18288" marB="18288" anchor="ctr"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onsolas"/>
                        </a:rPr>
                        <a:t>Simple RAG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Chunk → retrieve top-k → stuff → LLM answer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Q&amp;A over corpus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A4A5A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6344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B2447"/>
                </a:solidFill>
                <a:latin typeface="Calibri"/>
              </a:rPr>
              <a:t>Primary path is the deterministic graph — structure you can stake a plan 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A4A5A"/>
                </a:solidFill>
                <a:latin typeface="Calibri"/>
              </a:rPr>
              <a:t>GraphRAG and RAG are complementary: great for discovery and natural-language exploration, validated against the graph.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A4A5A"/>
                </a:solidFill>
                <a:latin typeface="Calibri"/>
              </a:rPr>
              <a:t>Reliability vs coverage: the deterministic path gives typed, stamped edges; GraphRAG gives breadth but untyped, inferred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GRAPHRAG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Microsoft GraphRAG 3.1, tuned for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A4A5A"/>
                </a:solidFill>
                <a:latin typeface="Calibri"/>
              </a:rPr>
              <a:t>Code-tuned config: entity_types set to the KDM-lite vocabulary (program, function, screen, copybook, datastore, job, handler).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A4A5A"/>
                </a:solidFill>
                <a:latin typeface="Calibri"/>
              </a:rPr>
              <a:t>Extraction prompt rewritten with COBOL examples → emits CALLS / READS_FROM / WRITES_TO / USES_COPYBOOK / JOB_RUNS_PROGRAM.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A4A5A"/>
                </a:solidFill>
                <a:latin typeface="Calibri"/>
              </a:rPr>
              <a:t>GraphML snapshot on → load the LLM-built graph into Neo4j alongside the deterministic one.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B2447"/>
                </a:solidFill>
                <a:latin typeface="Calibri"/>
              </a:rPr>
              <a:t>Runs two ways: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 i="0">
                <a:solidFill>
                  <a:srgbClr val="8A97A3"/>
                </a:solidFill>
                <a:latin typeface="Calibri"/>
              </a:rPr>
              <a:t>      –  </a:t>
            </a:r>
            <a:r>
              <a:rPr sz="1200" b="0" i="0">
                <a:solidFill>
                  <a:srgbClr val="3A4A5A"/>
                </a:solidFill>
                <a:latin typeface="Calibri"/>
              </a:rPr>
              <a:t>In Claude-on-the-web sandbox: Anthropic completion, embeddings-free workflow (extract → communities → reports → global search).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 i="0">
                <a:solidFill>
                  <a:srgbClr val="8A97A3"/>
                </a:solidFill>
                <a:latin typeface="Calibri"/>
              </a:rPr>
              <a:t>      –  </a:t>
            </a:r>
            <a:r>
              <a:rPr sz="1200" b="0" i="0">
                <a:solidFill>
                  <a:srgbClr val="3A4A5A"/>
                </a:solidFill>
                <a:latin typeface="Calibri"/>
              </a:rPr>
              <a:t>Locally: OpenAI / Together with embeddings → full pipeline incl. local &amp; DRIFT search.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E8B57"/>
                </a:solidFill>
                <a:latin typeface="Calibri"/>
              </a:rPr>
              <a:t>Verified end-to-end to the LLM boundary: loads docs → chunks → dispatches a Claude extraction call per document. A valid key completes the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167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89B1D"/>
                </a:solidFill>
                <a:latin typeface="Calibri"/>
              </a:rPr>
              <a:t>Network reality: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sandbox allowlists Anthropic only; OpenAI/Together hosts run locally. Config documents both paths.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TRANSITION TO TCS / MASTERCRAFT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One box changes — everything downstream is reused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14600" cy="1371600"/>
          </a:xfrm>
          <a:prstGeom prst="rect">
            <a:avLst/>
          </a:prstGeom>
          <a:solidFill>
            <a:srgbClr val="E89B1D"/>
          </a:solidFill>
          <a:ln w="31750">
            <a:solidFill>
              <a:srgbClr val="E89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MasterCraft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inventory 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170432"/>
            <a:ext cx="1600200" cy="347472"/>
          </a:xfrm>
          <a:prstGeom prst="rect">
            <a:avLst/>
          </a:prstGeom>
          <a:solidFill>
            <a:srgbClr val="E89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447"/>
                </a:solidFill>
                <a:latin typeface="Calibri"/>
              </a:rPr>
              <a:t>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116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3A4A5A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554480"/>
            <a:ext cx="2514600" cy="1371600"/>
          </a:xfrm>
          <a:prstGeom prst="rect">
            <a:avLst/>
          </a:prstGeom>
          <a:solidFill>
            <a:srgbClr val="149EC8"/>
          </a:solidFill>
          <a:ln w="31750">
            <a:solidFill>
              <a:srgbClr val="14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2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Adapter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(maps to KDM-lite)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170432"/>
            <a:ext cx="1600200" cy="347472"/>
          </a:xfrm>
          <a:prstGeom prst="rect">
            <a:avLst/>
          </a:prstGeom>
          <a:solidFill>
            <a:srgbClr val="E89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447"/>
                </a:solidFill>
                <a:latin typeface="Calibri"/>
              </a:rPr>
              <a:t>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0116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3A4A5A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514600" cy="1371600"/>
          </a:xfrm>
          <a:prstGeom prst="rect">
            <a:avLst/>
          </a:prstGeom>
          <a:solidFill>
            <a:srgbClr val="FFFFFF"/>
          </a:solidFill>
          <a:ln w="31750">
            <a:solidFill>
              <a:srgbClr val="0B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2447"/>
                </a:solidFill>
                <a:latin typeface="Calibri"/>
              </a:rPr>
              <a:t>Same graph.json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170432"/>
            <a:ext cx="1508760" cy="3474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116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3A4A5A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554480"/>
            <a:ext cx="2514600" cy="1371600"/>
          </a:xfrm>
          <a:prstGeom prst="rect">
            <a:avLst/>
          </a:prstGeom>
          <a:solidFill>
            <a:srgbClr val="FFFFFF"/>
          </a:solidFill>
          <a:ln w="3175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2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A4A5A"/>
                </a:solidFill>
                <a:latin typeface="Calibri"/>
              </a:rPr>
              <a:t>Neo4j · cluster ·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A4A5A"/>
                </a:solidFill>
                <a:latin typeface="Calibri"/>
              </a:rPr>
              <a:t>specs · GraphRAG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1170432"/>
            <a:ext cx="1508760" cy="3474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2447"/>
                </a:solidFill>
                <a:latin typeface="Calibri"/>
              </a:rPr>
              <a:t>Choosing a KDM-aligned schema for the sandbox is what makes this a remapping of sources, not a redesign.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A4A5A"/>
                </a:solidFill>
                <a:latin typeface="Calibri"/>
              </a:rPr>
              <a:t>graph.json format, Neo4j loader, clustering, spec generation, GraphRAG config — all reused unchanged.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49EC8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2E8B57"/>
                </a:solidFill>
                <a:latin typeface="Calibri"/>
              </a:rPr>
              <a:t>De-risks the TCS engagement: the hard parts (schema, clustering, evidence, specs) are proven on open code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7000" cy="1143000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49EC8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2447"/>
                </a:solidFill>
                <a:latin typeface="Calibri"/>
              </a:rPr>
              <a:t>Where we are and what's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64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914400" cy="1078992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55064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0B2447"/>
                </a:solidFill>
                <a:latin typeface="Calibri"/>
              </a:rPr>
              <a:t>Schema alignment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3A4A5A"/>
                </a:solidFill>
                <a:latin typeface="Calibri"/>
              </a:rPr>
              <a:t>Confirm MasterCraft export maps onto KDM-lite nodes/edges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1856232"/>
            <a:ext cx="1691640" cy="384048"/>
          </a:xfrm>
          <a:prstGeom prst="rect">
            <a:avLst/>
          </a:prstGeom>
          <a:solidFill>
            <a:srgbClr val="149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60904"/>
            <a:ext cx="11064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60904"/>
            <a:ext cx="914400" cy="1078992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5351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07208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0B2447"/>
                </a:solidFill>
                <a:latin typeface="Calibri"/>
              </a:rPr>
              <a:t>This sandbox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3A4A5A"/>
                </a:solidFill>
                <a:latin typeface="Calibri"/>
              </a:rPr>
              <a:t>Prove extract → graph → cluster → spec on open COBOL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3008376"/>
            <a:ext cx="169164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13048"/>
            <a:ext cx="11064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0" cy="1078992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0565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59352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0B2447"/>
                </a:solidFill>
                <a:latin typeface="Calibri"/>
              </a:rPr>
              <a:t>GraphRAG enrichment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3A4A5A"/>
                </a:solidFill>
                <a:latin typeface="Calibri"/>
              </a:rPr>
              <a:t>Semantic retrieval + richer narratives; broaden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4160520"/>
            <a:ext cx="1691640" cy="384048"/>
          </a:xfrm>
          <a:prstGeom prst="rect">
            <a:avLst/>
          </a:prstGeom>
          <a:solidFill>
            <a:srgbClr val="E89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65192"/>
            <a:ext cx="11064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65192"/>
            <a:ext cx="914400" cy="1078992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111496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0B2447"/>
                </a:solidFill>
                <a:latin typeface="Calibri"/>
              </a:rPr>
              <a:t>Target mapping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3A4A5A"/>
                </a:solidFill>
                <a:latin typeface="Calibri"/>
              </a:rPr>
              <a:t>MAPS_TO_TARGET edges, capability specs, modernization backlog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5312664"/>
            <a:ext cx="1691640" cy="384048"/>
          </a:xfrm>
          <a:prstGeom prst="rect">
            <a:avLst/>
          </a:prstGeom>
          <a:solidFill>
            <a:srgbClr val="8A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463040" cy="76200"/>
          </a:xfrm>
          <a:prstGeom prst="rect">
            <a:avLst/>
          </a:prstGeom>
          <a:solidFill>
            <a:srgbClr val="E89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this gives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800" b="1" i="0">
                <a:solidFill>
                  <a:srgbClr val="E89B1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 proven, evidence-first pipeline from legacy source to grounded functional specs.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800" b="1" i="0">
                <a:solidFill>
                  <a:srgbClr val="E89B1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 KDM-aligned graph that transfers to TCS/MasterCraft by swapping one component.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800" b="1" i="0">
                <a:solidFill>
                  <a:srgbClr val="E89B1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GraphRAG + RAG layered on top for discovery — validated against a deterministic spine.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800" b="1" i="0">
                <a:solidFill>
                  <a:srgbClr val="E89B1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De-risked path: the architecture is exercised on open COBOL before touching client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10515600" cy="1828800"/>
          </a:xfrm>
          <a:prstGeom prst="rect">
            <a:avLst/>
          </a:prstGeom>
          <a:solidFill>
            <a:srgbClr val="103355"/>
          </a:solidFill>
          <a:ln w="19050">
            <a:solidFill>
              <a:srgbClr val="14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E89B1D"/>
                </a:solidFill>
                <a:latin typeface="Calibri"/>
              </a:rPr>
              <a:t>Asks / next steps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1.  Get a MasterCraft inventory export sample to validate the KDM-lite mapping (Phase 0).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2.  Confirm target-state vocabulary so we can design MAPS_TO_TARGET edges (Phase 3).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3.  Decide GraphRAG scope: discovery aid vs. part of the deliverable.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