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50800"/>
          </a:xfrm>
          <a:prstGeom prst="rect">
            <a:avLst/>
          </a:prstGeom>
          <a:solidFill>
            <a:srgbClr val="149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828800"/>
            <a:ext cx="1463040" cy="76200"/>
          </a:xfrm>
          <a:prstGeom prst="rect">
            <a:avLst/>
          </a:prstGeom>
          <a:solidFill>
            <a:srgbClr val="E89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105156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Code Graph Modernization</a:t>
            </a:r>
          </a:p>
          <a:p>
            <a:pPr algn="l">
              <a:lnSpc>
                <a:spcPct val="100000"/>
              </a:lnSpc>
              <a:spcAft>
                <a:spcPts val="1000"/>
              </a:spcAft>
            </a:pPr>
            <a:r>
              <a:rPr sz="2200" b="0" i="0">
                <a:solidFill>
                  <a:srgbClr val="149EC8"/>
                </a:solidFill>
                <a:latin typeface="Calibri"/>
              </a:rPr>
              <a:t>A trustworthy code knowledge graph for legacy modernization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89120"/>
            <a:ext cx="105156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600" b="0" i="0">
                <a:solidFill>
                  <a:srgbClr val="F2F5F8"/>
                </a:solidFill>
                <a:latin typeface="Calibri"/>
              </a:rPr>
              <a:t>Deterministic graph extraction · KDM-lite schema · GraphRAG &amp; RAG on top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600" b="0" i="0">
                <a:solidFill>
                  <a:srgbClr val="8A97A3"/>
                </a:solidFill>
                <a:latin typeface="Calibri"/>
              </a:rPr>
              <a:t>Open-source learning sandbox  →  TCS / MasterCraft transition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126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Technical review for Brajesh</a:t>
            </a:r>
            <a:r>
              <a:rPr sz="1400" b="0" i="0">
                <a:solidFill>
                  <a:srgbClr val="8A97A3"/>
                </a:solidFill>
                <a:latin typeface="Calibri"/>
              </a:rPr>
              <a:t>      ·   June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149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7000" cy="1143000"/>
          </a:xfrm>
          <a:prstGeom prst="rect">
            <a:avLst/>
          </a:prstGeom>
          <a:solidFill>
            <a:srgbClr val="149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149EC8"/>
                </a:solidFill>
                <a:latin typeface="Calibri"/>
              </a:rPr>
              <a:t>WHY THIS EXISTS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38912"/>
            <a:ext cx="11338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0B2447"/>
                </a:solidFill>
                <a:latin typeface="Calibri"/>
              </a:rPr>
              <a:t>Modernization needs a graph you can trust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600" b="1" i="0">
                <a:solidFill>
                  <a:srgbClr val="149EC8"/>
                </a:solidFill>
                <a:latin typeface="Calibri"/>
              </a:rPr>
              <a:t>▸  </a:t>
            </a:r>
            <a:r>
              <a:rPr sz="1600" b="0" i="0">
                <a:solidFill>
                  <a:srgbClr val="3A4A5A"/>
                </a:solidFill>
                <a:latin typeface="Calibri"/>
              </a:rPr>
              <a:t>Legacy estates (COBOL / JCL / copybooks) have the business logic but no reliable map: what calls what, what reads/writes which data, where the integration seams are.</a:t>
            </a:r>
          </a:p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600" b="1" i="0">
                <a:solidFill>
                  <a:srgbClr val="149EC8"/>
                </a:solidFill>
                <a:latin typeface="Calibri"/>
              </a:rPr>
              <a:t>▸  </a:t>
            </a:r>
            <a:r>
              <a:rPr sz="1600" b="0" i="0">
                <a:solidFill>
                  <a:srgbClr val="3A4A5A"/>
                </a:solidFill>
                <a:latin typeface="Calibri"/>
              </a:rPr>
              <a:t>Modernization decisions — sequencing, risk, scope — hinge on that map. Getting it wrong is expensive.</a:t>
            </a:r>
          </a:p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600" b="1" i="0">
                <a:solidFill>
                  <a:srgbClr val="149EC8"/>
                </a:solidFill>
                <a:latin typeface="Calibri"/>
              </a:rPr>
              <a:t>▸  </a:t>
            </a:r>
            <a:r>
              <a:rPr sz="1600" b="1" i="0">
                <a:solidFill>
                  <a:srgbClr val="3A4A5A"/>
                </a:solidFill>
                <a:latin typeface="Calibri"/>
              </a:rPr>
              <a:t>The tempting shortcut: point an LLM at raw code and ask it to describe the system.</a:t>
            </a:r>
          </a:p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400" b="0" i="0">
                <a:solidFill>
                  <a:srgbClr val="8A97A3"/>
                </a:solidFill>
                <a:latin typeface="Calibri"/>
              </a:rPr>
              <a:t>      –  </a:t>
            </a:r>
            <a:r>
              <a:rPr sz="1400" b="0" i="0">
                <a:solidFill>
                  <a:srgbClr val="B03A2E"/>
                </a:solidFill>
                <a:latin typeface="Calibri"/>
              </a:rPr>
              <a:t>Plausible prose, but non-deterministic and unverifiable — you cannot stake a migration plan on it.</a:t>
            </a:r>
          </a:p>
          <a:p>
            <a:pPr algn="l">
              <a:lnSpc>
                <a:spcPct val="105000"/>
              </a:lnSpc>
              <a:spcAft>
                <a:spcPts val="1400"/>
              </a:spcAft>
            </a:pPr>
            <a:r>
              <a:rPr sz="1600" b="1" i="0">
                <a:solidFill>
                  <a:srgbClr val="149EC8"/>
                </a:solidFill>
                <a:latin typeface="Calibri"/>
              </a:rPr>
              <a:t>▸  </a:t>
            </a:r>
            <a:r>
              <a:rPr sz="1600" b="1" i="0">
                <a:solidFill>
                  <a:srgbClr val="0B2447"/>
                </a:solidFill>
                <a:latin typeface="Calibri"/>
              </a:rPr>
              <a:t>What we actually need: a typed, evidence-backed dependency graph, with LLM techniques layered on top to explain and draft — never to invent the structure.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806440"/>
            <a:ext cx="11064240" cy="640080"/>
          </a:xfrm>
          <a:prstGeom prst="rect">
            <a:avLst/>
          </a:prstGeom>
          <a:solidFill>
            <a:srgbClr val="0B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897880"/>
            <a:ext cx="10698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500" b="1" i="0">
                <a:solidFill>
                  <a:srgbClr val="E89B1D"/>
                </a:solidFill>
                <a:latin typeface="Calibri"/>
              </a:rPr>
              <a:t>Design principle:  </a:t>
            </a:r>
            <a:r>
              <a:rPr sz="1500" b="0" i="0">
                <a:solidFill>
                  <a:srgbClr val="FFFFFF"/>
                </a:solidFill>
                <a:latin typeface="Calibri"/>
              </a:rPr>
              <a:t>structure is derived deterministically; GraphRAG/LLM sits on top; every claim cites source evidence.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149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7000" cy="1143000"/>
          </a:xfrm>
          <a:prstGeom prst="rect">
            <a:avLst/>
          </a:prstGeom>
          <a:solidFill>
            <a:srgbClr val="149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149EC8"/>
                </a:solidFill>
                <a:latin typeface="Calibri"/>
              </a:rPr>
              <a:t>ARCHITECTURE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38912"/>
            <a:ext cx="11338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0B2447"/>
                </a:solidFill>
                <a:latin typeface="Calibri"/>
              </a:rPr>
              <a:t>One pipeline, evidence end-to-end</a:t>
            </a:r>
          </a:p>
        </p:txBody>
      </p:sp>
      <p:pic>
        <p:nvPicPr>
          <p:cNvPr id="8" name="Picture 7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101" y="1234440"/>
            <a:ext cx="11165493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149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7000" cy="1143000"/>
          </a:xfrm>
          <a:prstGeom prst="rect">
            <a:avLst/>
          </a:prstGeom>
          <a:solidFill>
            <a:srgbClr val="149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149EC8"/>
                </a:solidFill>
                <a:latin typeface="Calibri"/>
              </a:rPr>
              <a:t>SCHEMA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38912"/>
            <a:ext cx="11338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0B2447"/>
                </a:solidFill>
                <a:latin typeface="Calibri"/>
              </a:rPr>
              <a:t>KDM-lite: an open stand-in for the MasterCraft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8016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0" i="0">
                <a:solidFill>
                  <a:srgbClr val="3A4A5A"/>
                </a:solidFill>
                <a:latin typeface="Calibri"/>
              </a:rPr>
              <a:t>A property-graph subset of OMG KDM (ISO/IEC 19506), the standard MasterCraft aligns to. Same node/edge concepts MasterCraft emits — so only the extractor swaps at the TCS boundary.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2057400"/>
          <a:ext cx="548640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2011680"/>
                <a:gridCol w="1737360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KDM-lite node</a:t>
                      </a:r>
                    </a:p>
                  </a:txBody>
                  <a:tcPr marL="73152" marR="54864" marT="18288" marB="18288" anchor="ctr">
                    <a:solidFill>
                      <a:srgbClr val="0B244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KDM origin</a:t>
                      </a:r>
                    </a:p>
                  </a:txBody>
                  <a:tcPr marL="73152" marR="54864" marT="18288" marB="18288" anchor="ctr">
                    <a:solidFill>
                      <a:srgbClr val="0B244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MasterCraft</a:t>
                      </a:r>
                    </a:p>
                  </a:txBody>
                  <a:tcPr marL="73152" marR="54864" marT="18288" marB="18288" anchor="ctr">
                    <a:solidFill>
                      <a:srgbClr val="0B244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3A4A5A"/>
                          </a:solidFill>
                          <a:latin typeface="Consolas"/>
                        </a:rPr>
                        <a:t>Program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3A4A5A"/>
                          </a:solidFill>
                          <a:latin typeface="Calibri"/>
                        </a:rPr>
                        <a:t>code:CompilationUnit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3A4A5A"/>
                          </a:solidFill>
                          <a:latin typeface="Calibri"/>
                        </a:rPr>
                        <a:t>Program / Class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3A4A5A"/>
                          </a:solidFill>
                          <a:latin typeface="Consolas"/>
                        </a:rPr>
                        <a:t>Function</a:t>
                      </a:r>
                    </a:p>
                  </a:txBody>
                  <a:tcPr marL="73152" marR="54864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3A4A5A"/>
                          </a:solidFill>
                          <a:latin typeface="Calibri"/>
                        </a:rPr>
                        <a:t>code:CallableUnit</a:t>
                      </a:r>
                    </a:p>
                  </a:txBody>
                  <a:tcPr marL="73152" marR="54864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3A4A5A"/>
                          </a:solidFill>
                          <a:latin typeface="Calibri"/>
                        </a:rPr>
                        <a:t>Paragraph / Method</a:t>
                      </a:r>
                    </a:p>
                  </a:txBody>
                  <a:tcPr marL="73152" marR="54864" marT="18288" marB="18288" anchor="ctr">
                    <a:solidFill>
                      <a:srgbClr val="F2F5F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3A4A5A"/>
                          </a:solidFill>
                          <a:latin typeface="Consolas"/>
                        </a:rPr>
                        <a:t>Screen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3A4A5A"/>
                          </a:solidFill>
                          <a:latin typeface="Calibri"/>
                        </a:rPr>
                        <a:t>ui:Screen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3A4A5A"/>
                          </a:solidFill>
                          <a:latin typeface="Calibri"/>
                        </a:rPr>
                        <a:t>Screen / Map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3A4A5A"/>
                          </a:solidFill>
                          <a:latin typeface="Consolas"/>
                        </a:rPr>
                        <a:t>DataStore</a:t>
                      </a:r>
                    </a:p>
                  </a:txBody>
                  <a:tcPr marL="73152" marR="54864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3A4A5A"/>
                          </a:solidFill>
                          <a:latin typeface="Calibri"/>
                        </a:rPr>
                        <a:t>data:RelationalTable</a:t>
                      </a:r>
                    </a:p>
                  </a:txBody>
                  <a:tcPr marL="73152" marR="54864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3A4A5A"/>
                          </a:solidFill>
                          <a:latin typeface="Calibri"/>
                        </a:rPr>
                        <a:t>File / Table / Queue</a:t>
                      </a:r>
                    </a:p>
                  </a:txBody>
                  <a:tcPr marL="73152" marR="54864" marT="18288" marB="18288" anchor="ctr">
                    <a:solidFill>
                      <a:srgbClr val="F2F5F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3A4A5A"/>
                          </a:solidFill>
                          <a:latin typeface="Consolas"/>
                        </a:rPr>
                        <a:t>Job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3A4A5A"/>
                          </a:solidFill>
                          <a:latin typeface="Calibri"/>
                        </a:rPr>
                        <a:t>platform:DeployedComp.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3A4A5A"/>
                          </a:solidFill>
                          <a:latin typeface="Calibri"/>
                        </a:rPr>
                        <a:t>Batch Job / JCL Step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63640" y="2057400"/>
          <a:ext cx="5349240" cy="25237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606040"/>
              </a:tblGrid>
              <a:tr h="420624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KDM-lite edge</a:t>
                      </a:r>
                    </a:p>
                  </a:txBody>
                  <a:tcPr marL="73152" marR="54864" marT="18288" marB="18288" anchor="ctr">
                    <a:solidFill>
                      <a:srgbClr val="0B244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MasterCraft</a:t>
                      </a:r>
                    </a:p>
                  </a:txBody>
                  <a:tcPr marL="73152" marR="54864" marT="18288" marB="18288" anchor="ctr">
                    <a:solidFill>
                      <a:srgbClr val="0B2447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3A4A5A"/>
                          </a:solidFill>
                          <a:latin typeface="Consolas"/>
                        </a:rPr>
                        <a:t>CALLS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3A4A5A"/>
                          </a:solidFill>
                          <a:latin typeface="Calibri"/>
                        </a:rPr>
                        <a:t>CALLS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3A4A5A"/>
                          </a:solidFill>
                          <a:latin typeface="Consolas"/>
                        </a:rPr>
                        <a:t>READS_FROM</a:t>
                      </a:r>
                    </a:p>
                  </a:txBody>
                  <a:tcPr marL="73152" marR="54864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3A4A5A"/>
                          </a:solidFill>
                          <a:latin typeface="Calibri"/>
                        </a:rPr>
                        <a:t>READS_FROM</a:t>
                      </a:r>
                    </a:p>
                  </a:txBody>
                  <a:tcPr marL="73152" marR="54864" marT="18288" marB="18288" anchor="ctr">
                    <a:solidFill>
                      <a:srgbClr val="F2F5F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3A4A5A"/>
                          </a:solidFill>
                          <a:latin typeface="Consolas"/>
                        </a:rPr>
                        <a:t>WRITES_TO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3A4A5A"/>
                          </a:solidFill>
                          <a:latin typeface="Calibri"/>
                        </a:rPr>
                        <a:t>WRITES_TO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3A4A5A"/>
                          </a:solidFill>
                          <a:latin typeface="Consolas"/>
                        </a:rPr>
                        <a:t>USES_COPYBOOK</a:t>
                      </a:r>
                    </a:p>
                  </a:txBody>
                  <a:tcPr marL="73152" marR="54864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3A4A5A"/>
                          </a:solidFill>
                          <a:latin typeface="Calibri"/>
                        </a:rPr>
                        <a:t>USES_COPYBOOK</a:t>
                      </a:r>
                    </a:p>
                  </a:txBody>
                  <a:tcPr marL="73152" marR="54864" marT="18288" marB="18288" anchor="ctr">
                    <a:solidFill>
                      <a:srgbClr val="F2F5F8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3A4A5A"/>
                          </a:solidFill>
                          <a:latin typeface="Consolas"/>
                        </a:rPr>
                        <a:t>JOB_RUNS_PROGRAM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50" b="0" i="0">
                          <a:solidFill>
                            <a:srgbClr val="3A4A5A"/>
                          </a:solidFill>
                          <a:latin typeface="Calibri"/>
                        </a:rPr>
                        <a:t>JOB_RUNS_PROGRAM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548640" y="5394960"/>
            <a:ext cx="11064240" cy="868680"/>
          </a:xfrm>
          <a:prstGeom prst="rect">
            <a:avLst/>
          </a:prstGeom>
          <a:solidFill>
            <a:srgbClr val="0B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5486400"/>
            <a:ext cx="106984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400" b="1" i="0">
                <a:solidFill>
                  <a:srgbClr val="E89B1D"/>
                </a:solidFill>
                <a:latin typeface="Calibri"/>
              </a:rPr>
              <a:t>Evidence contract (non-negotiable):  </a:t>
            </a:r>
            <a:r>
              <a:rPr sz="1400" b="0" i="0">
                <a:solidFill>
                  <a:srgbClr val="FFFFFF"/>
                </a:solidFill>
                <a:latin typeface="Calibri"/>
              </a:rPr>
              <a:t>every node &amp; edge carries source_artifact, source_lines, extraction_method, confidence.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0" i="0">
                <a:solidFill>
                  <a:srgbClr val="8A97A3"/>
                </a:solidFill>
                <a:latin typeface="Calibri"/>
              </a:rPr>
              <a:t>Deterministic facts are distinguishable from inferred ones; sandbox stamps heuristic-cobol-v0 / 0.7, MasterCraft would stamp ≈1.0.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149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7000" cy="1143000"/>
          </a:xfrm>
          <a:prstGeom prst="rect">
            <a:avLst/>
          </a:prstGeom>
          <a:solidFill>
            <a:srgbClr val="149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149EC8"/>
                </a:solidFill>
                <a:latin typeface="Calibri"/>
              </a:rPr>
              <a:t>THE EXTRACTOR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38912"/>
            <a:ext cx="11338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0B2447"/>
                </a:solidFill>
                <a:latin typeface="Calibri"/>
              </a:rPr>
              <a:t>Deterministic structure, every fact stamped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1732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600" b="1" i="0">
                <a:solidFill>
                  <a:srgbClr val="149EC8"/>
                </a:solidFill>
                <a:latin typeface="Calibri"/>
              </a:rPr>
              <a:t>▸  </a:t>
            </a:r>
            <a:r>
              <a:rPr sz="1600" b="0" i="0">
                <a:solidFill>
                  <a:srgbClr val="3A4A5A"/>
                </a:solidFill>
                <a:latin typeface="Calibri"/>
              </a:rPr>
              <a:t>Heuristic COBOL/JCL reader (stdlib only) → typed KDM-lite nodes &amp; edges.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400" b="0" i="0">
                <a:solidFill>
                  <a:srgbClr val="8A97A3"/>
                </a:solidFill>
                <a:latin typeface="Calibri"/>
              </a:rPr>
              <a:t>      –  </a:t>
            </a:r>
            <a:r>
              <a:rPr sz="1400" b="0" i="0">
                <a:solidFill>
                  <a:srgbClr val="3A4A5A"/>
                </a:solidFill>
                <a:latin typeface="Calibri"/>
              </a:rPr>
              <a:t>Detects: program CALLS, file/table READS_FROM / WRITES_TO, USES_COPYBOOK, screen → program, JCL job → program.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600" b="1" i="0">
                <a:solidFill>
                  <a:srgbClr val="149EC8"/>
                </a:solidFill>
                <a:latin typeface="Calibri"/>
              </a:rPr>
              <a:t>▸  </a:t>
            </a:r>
            <a:r>
              <a:rPr sz="1600" b="1" i="0">
                <a:solidFill>
                  <a:srgbClr val="0B2447"/>
                </a:solidFill>
                <a:latin typeface="Calibri"/>
              </a:rPr>
              <a:t>Every fact carries its provenance — nothing is asserted without a source line: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788920"/>
            <a:ext cx="11064240" cy="1463040"/>
          </a:xfrm>
          <a:prstGeom prst="rect">
            <a:avLst/>
          </a:prstGeom>
          <a:solidFill>
            <a:srgbClr val="101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926080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 i="0">
                <a:solidFill>
                  <a:srgbClr val="149EC8"/>
                </a:solidFill>
                <a:latin typeface="Consolas"/>
              </a:rPr>
              <a:t>ACCTPOST</a:t>
            </a:r>
            <a:r>
              <a:rPr sz="1300" b="0" i="0">
                <a:solidFill>
                  <a:srgbClr val="8A97A3"/>
                </a:solidFill>
                <a:latin typeface="Consolas"/>
              </a:rPr>
              <a:t>  --CALLS--&gt;  </a:t>
            </a:r>
            <a:r>
              <a:rPr sz="1300" b="0" i="0">
                <a:solidFill>
                  <a:srgbClr val="FFFFFF"/>
                </a:solidFill>
                <a:latin typeface="Consolas"/>
              </a:rPr>
              <a:t>(missing)        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 i="0">
                <a:solidFill>
                  <a:srgbClr val="149EC8"/>
                </a:solidFill>
                <a:latin typeface="Consolas"/>
              </a:rPr>
              <a:t>CUSTMGMT</a:t>
            </a:r>
            <a:r>
              <a:rPr sz="1300" b="0" i="0">
                <a:solidFill>
                  <a:srgbClr val="8A97A3"/>
                </a:solidFill>
                <a:latin typeface="Consolas"/>
              </a:rPr>
              <a:t>  --READS_FROM--&gt;  </a:t>
            </a:r>
            <a:r>
              <a:rPr sz="1300" b="1" i="0">
                <a:solidFill>
                  <a:srgbClr val="FFFFFF"/>
                </a:solidFill>
                <a:latin typeface="Consolas"/>
              </a:rPr>
              <a:t>CUSTOMER-FILE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 i="0">
                <a:solidFill>
                  <a:srgbClr val="8A97A3"/>
                </a:solidFill>
                <a:latin typeface="Consolas"/>
              </a:rPr>
              <a:t>   source_artifact: </a:t>
            </a:r>
            <a:r>
              <a:rPr sz="1200" b="0" i="0">
                <a:solidFill>
                  <a:srgbClr val="E89B1D"/>
                </a:solidFill>
                <a:latin typeface="Consolas"/>
              </a:rPr>
              <a:t>CUSTMGMT.CBL</a:t>
            </a:r>
            <a:r>
              <a:rPr sz="1200" b="0" i="0">
                <a:solidFill>
                  <a:srgbClr val="8A97A3"/>
                </a:solidFill>
                <a:latin typeface="Consolas"/>
              </a:rPr>
              <a:t>   lines: </a:t>
            </a:r>
            <a:r>
              <a:rPr sz="1200" b="0" i="0">
                <a:solidFill>
                  <a:srgbClr val="E89B1D"/>
                </a:solidFill>
                <a:latin typeface="Consolas"/>
              </a:rPr>
              <a:t>28</a:t>
            </a:r>
            <a:r>
              <a:rPr sz="1200" b="0" i="0">
                <a:solidFill>
                  <a:srgbClr val="8A97A3"/>
                </a:solidFill>
                <a:latin typeface="Consolas"/>
              </a:rPr>
              <a:t>   method: </a:t>
            </a:r>
            <a:r>
              <a:rPr sz="1200" b="0" i="0">
                <a:solidFill>
                  <a:srgbClr val="2E8B57"/>
                </a:solidFill>
                <a:latin typeface="Consolas"/>
              </a:rPr>
              <a:t>heuristic-cobol-v0</a:t>
            </a:r>
            <a:r>
              <a:rPr sz="1200" b="0" i="0">
                <a:solidFill>
                  <a:srgbClr val="8A97A3"/>
                </a:solidFill>
                <a:latin typeface="Consolas"/>
              </a:rPr>
              <a:t>   confidence: </a:t>
            </a:r>
            <a:r>
              <a:rPr sz="1200" b="0" i="0">
                <a:solidFill>
                  <a:srgbClr val="2E8B57"/>
                </a:solidFill>
                <a:latin typeface="Consolas"/>
              </a:rPr>
              <a:t>0.7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52628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149EC8"/>
                </a:solidFill>
                <a:latin typeface="Calibri"/>
              </a:rPr>
              <a:t>▸  </a:t>
            </a:r>
            <a:r>
              <a:rPr sz="1600" b="0" i="0">
                <a:solidFill>
                  <a:srgbClr val="3A4A5A"/>
                </a:solidFill>
                <a:latin typeface="Calibri"/>
              </a:rPr>
              <a:t>Low-confidence facts (e.g. inferred screens, 0.5) are queryable separately — reviewers audit them first.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149EC8"/>
                </a:solidFill>
                <a:latin typeface="Calibri"/>
              </a:rPr>
              <a:t>▸  </a:t>
            </a:r>
            <a:r>
              <a:rPr sz="1600" b="1" i="0">
                <a:solidFill>
                  <a:srgbClr val="0B2447"/>
                </a:solidFill>
                <a:latin typeface="Calibri"/>
              </a:rPr>
              <a:t>At the TCS boundary the heuristic is replaced by a MasterCraft-inventory adapter; same graph, facts stamped deterministic (~1.0).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149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7000" cy="1143000"/>
          </a:xfrm>
          <a:prstGeom prst="rect">
            <a:avLst/>
          </a:prstGeom>
          <a:solidFill>
            <a:srgbClr val="149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149EC8"/>
                </a:solidFill>
                <a:latin typeface="Calibri"/>
              </a:rPr>
              <a:t>PROOF ON A SAMPLE ESTATE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38912"/>
            <a:ext cx="11338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0B2447"/>
                </a:solidFill>
                <a:latin typeface="Calibri"/>
              </a:rPr>
              <a:t>16 nodes · 19 edges · 3 functional areas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417320"/>
            <a:ext cx="2103120" cy="1051560"/>
          </a:xfrm>
          <a:prstGeom prst="rect">
            <a:avLst/>
          </a:prstGeom>
          <a:solidFill>
            <a:srgbClr val="0B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417320"/>
            <a:ext cx="76200" cy="1051560"/>
          </a:xfrm>
          <a:prstGeom prst="rect">
            <a:avLst/>
          </a:prstGeom>
          <a:solidFill>
            <a:srgbClr val="149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527048"/>
            <a:ext cx="2103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093976"/>
            <a:ext cx="2103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149EC8"/>
                </a:solidFill>
                <a:latin typeface="Calibri"/>
              </a:rPr>
              <a:t>programs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70632" y="1417320"/>
            <a:ext cx="2103120" cy="1051560"/>
          </a:xfrm>
          <a:prstGeom prst="rect">
            <a:avLst/>
          </a:prstGeom>
          <a:solidFill>
            <a:srgbClr val="0B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70632" y="1417320"/>
            <a:ext cx="76200" cy="1051560"/>
          </a:xfrm>
          <a:prstGeom prst="rect">
            <a:avLst/>
          </a:prstGeom>
          <a:solidFill>
            <a:srgbClr val="149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70632" y="1527048"/>
            <a:ext cx="2103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70632" y="2093976"/>
            <a:ext cx="2103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149EC8"/>
                </a:solidFill>
                <a:latin typeface="Calibri"/>
              </a:rPr>
              <a:t>copybooks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992624" y="1417320"/>
            <a:ext cx="2103120" cy="1051560"/>
          </a:xfrm>
          <a:prstGeom prst="rect">
            <a:avLst/>
          </a:prstGeom>
          <a:solidFill>
            <a:srgbClr val="0B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92624" y="1417320"/>
            <a:ext cx="76200" cy="1051560"/>
          </a:xfrm>
          <a:prstGeom prst="rect">
            <a:avLst/>
          </a:prstGeom>
          <a:solidFill>
            <a:srgbClr val="149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92624" y="1527048"/>
            <a:ext cx="2103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92624" y="2093976"/>
            <a:ext cx="2103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149EC8"/>
                </a:solidFill>
                <a:latin typeface="Calibri"/>
              </a:rPr>
              <a:t>JCL job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14616" y="1417320"/>
            <a:ext cx="2103120" cy="1051560"/>
          </a:xfrm>
          <a:prstGeom prst="rect">
            <a:avLst/>
          </a:prstGeom>
          <a:solidFill>
            <a:srgbClr val="0B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14616" y="1417320"/>
            <a:ext cx="76200" cy="1051560"/>
          </a:xfrm>
          <a:prstGeom prst="rect">
            <a:avLst/>
          </a:prstGeom>
          <a:solidFill>
            <a:srgbClr val="149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14616" y="1527048"/>
            <a:ext cx="2103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14616" y="2093976"/>
            <a:ext cx="2103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149EC8"/>
                </a:solidFill>
                <a:latin typeface="Calibri"/>
              </a:rPr>
              <a:t>SQL tables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436608" y="1417320"/>
            <a:ext cx="2103120" cy="1051560"/>
          </a:xfrm>
          <a:prstGeom prst="rect">
            <a:avLst/>
          </a:prstGeom>
          <a:solidFill>
            <a:srgbClr val="0B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436608" y="1417320"/>
            <a:ext cx="76200" cy="1051560"/>
          </a:xfrm>
          <a:prstGeom prst="rect">
            <a:avLst/>
          </a:prstGeom>
          <a:solidFill>
            <a:srgbClr val="149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36608" y="1527048"/>
            <a:ext cx="2103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36608" y="2093976"/>
            <a:ext cx="21031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300" b="0" i="0">
                <a:solidFill>
                  <a:srgbClr val="149EC8"/>
                </a:solidFill>
                <a:latin typeface="Calibri"/>
              </a:rPr>
              <a:t>functional areas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274320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149EC8"/>
                </a:solidFill>
                <a:latin typeface="Calibri"/>
              </a:rPr>
              <a:t>▸  </a:t>
            </a:r>
            <a:r>
              <a:rPr sz="1500" b="0" i="0">
                <a:solidFill>
                  <a:srgbClr val="3A4A5A"/>
                </a:solidFill>
                <a:latin typeface="Calibri"/>
              </a:rPr>
              <a:t>Customer mgmt &amp; daily reporting — CUSTMGMT (screen), DAILYRPT (batch via DAILYJOB) over CUSTOMER-FILE / REPORT-FILE.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149EC8"/>
                </a:solidFill>
                <a:latin typeface="Calibri"/>
              </a:rPr>
              <a:t>▸  </a:t>
            </a:r>
            <a:r>
              <a:rPr sz="1500" b="0" i="0">
                <a:solidFill>
                  <a:srgbClr val="3A4A5A"/>
                </a:solidFill>
                <a:latin typeface="Calibri"/>
              </a:rPr>
              <a:t>Account posting — ACCTPOST over ACCOUNT / TRANSACTION (DB2).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149EC8"/>
                </a:solidFill>
                <a:latin typeface="Calibri"/>
              </a:rPr>
              <a:t>▸  </a:t>
            </a:r>
            <a:r>
              <a:rPr sz="1500" b="0" i="0">
                <a:solidFill>
                  <a:srgbClr val="3A4A5A"/>
                </a:solidFill>
                <a:latin typeface="Calibri"/>
              </a:rPr>
              <a:t>Parts ordering — PARTORDR (screen) over PARTS / ORDERS.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4343400"/>
            <a:ext cx="11064240" cy="1874519"/>
          </a:xfrm>
          <a:prstGeom prst="rect">
            <a:avLst/>
          </a:prstGeom>
          <a:solidFill>
            <a:srgbClr val="F2F5F8"/>
          </a:solidFill>
          <a:ln w="25400">
            <a:solidFill>
              <a:srgbClr val="E89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4480560"/>
            <a:ext cx="10607040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600" b="1" i="0">
                <a:solidFill>
                  <a:srgbClr val="0B2447"/>
                </a:solidFill>
                <a:latin typeface="Calibri"/>
              </a:rPr>
              <a:t>Cross-area edges = the integration contracts that drive sequencing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00" b="1" i="0">
                <a:solidFill>
                  <a:srgbClr val="3A4A5A"/>
                </a:solidFill>
                <a:latin typeface="Consolas"/>
              </a:rPr>
              <a:t>CUSTMGMT  CALLS  ACCTPOST</a:t>
            </a:r>
            <a:r>
              <a:rPr sz="1300" b="0" i="0">
                <a:solidFill>
                  <a:srgbClr val="3A4A5A"/>
                </a:solidFill>
                <a:latin typeface="Calibri"/>
              </a:rPr>
              <a:t>   — customer screen reaches into account posting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00" b="1" i="0">
                <a:solidFill>
                  <a:srgbClr val="3A4A5A"/>
                </a:solidFill>
                <a:latin typeface="Consolas"/>
              </a:rPr>
              <a:t>DAILYRPT  READS_FROM  ACCOUNT</a:t>
            </a:r>
            <a:r>
              <a:rPr sz="1300" b="0" i="0">
                <a:solidFill>
                  <a:srgbClr val="3A4A5A"/>
                </a:solidFill>
                <a:latin typeface="Calibri"/>
              </a:rPr>
              <a:t>   — reporting depends on the posting area's data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300" b="0" i="1">
                <a:solidFill>
                  <a:srgbClr val="3A4A5A"/>
                </a:solidFill>
                <a:latin typeface="Calibri"/>
              </a:rPr>
              <a:t>These cross-cluster dependencies are the contracts and risks to manage when you carve the estate.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149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7000" cy="1143000"/>
          </a:xfrm>
          <a:prstGeom prst="rect">
            <a:avLst/>
          </a:prstGeom>
          <a:solidFill>
            <a:srgbClr val="149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149EC8"/>
                </a:solidFill>
                <a:latin typeface="Calibri"/>
              </a:rPr>
              <a:t>THE CODE KNOWLEDGE GRAPH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38912"/>
            <a:ext cx="11338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0B2447"/>
                </a:solidFill>
                <a:latin typeface="Calibri"/>
              </a:rPr>
              <a:t>Extracted from the sample estate — graph.json</a:t>
            </a:r>
          </a:p>
        </p:txBody>
      </p:sp>
      <p:pic>
        <p:nvPicPr>
          <p:cNvPr id="8" name="Picture 7" descr="code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1371600"/>
            <a:ext cx="7563928" cy="51206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7863840" y="1417320"/>
            <a:ext cx="4114800" cy="4983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65008" y="1572768"/>
            <a:ext cx="3712464" cy="4754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0B2447"/>
                </a:solidFill>
                <a:latin typeface="Calibri"/>
              </a:rPr>
              <a:t>How to read it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300" b="1" i="0">
                <a:solidFill>
                  <a:srgbClr val="149EC8"/>
                </a:solidFill>
                <a:latin typeface="Calibri"/>
              </a:rPr>
              <a:t>Colour</a:t>
            </a:r>
            <a:r>
              <a:rPr sz="1300" b="0" i="0">
                <a:solidFill>
                  <a:srgbClr val="3A4A5A"/>
                </a:solidFill>
                <a:latin typeface="Calibri"/>
              </a:rPr>
              <a:t> = functional area (label-propagation cluster).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300" b="1" i="0">
                <a:solidFill>
                  <a:srgbClr val="149EC8"/>
                </a:solidFill>
                <a:latin typeface="Calibri"/>
              </a:rPr>
              <a:t>Shape</a:t>
            </a:r>
            <a:r>
              <a:rPr sz="1300" b="0" i="0">
                <a:solidFill>
                  <a:srgbClr val="3A4A5A"/>
                </a:solidFill>
                <a:latin typeface="Calibri"/>
              </a:rPr>
              <a:t> = KDM-lite node type — program (■), datastore (●), screen (▲), copybook (◆), job (⬣).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300" b="1" i="0">
                <a:solidFill>
                  <a:srgbClr val="149EC8"/>
                </a:solidFill>
                <a:latin typeface="Calibri"/>
              </a:rPr>
              <a:t>Thin edges</a:t>
            </a:r>
            <a:r>
              <a:rPr sz="1300" b="0" i="0">
                <a:solidFill>
                  <a:srgbClr val="3A4A5A"/>
                </a:solidFill>
                <a:latin typeface="Calibri"/>
              </a:rPr>
              <a:t> = typed dependencies within an area (CALLS / READS_FROM / WRITES_TO / USES_COPYBOOK).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300" b="1" i="0">
                <a:solidFill>
                  <a:srgbClr val="C0392E"/>
                </a:solidFill>
                <a:latin typeface="Calibri"/>
              </a:rPr>
              <a:t>Bold red edges</a:t>
            </a:r>
            <a:r>
              <a:rPr sz="1300" b="0" i="0">
                <a:solidFill>
                  <a:srgbClr val="3A4A5A"/>
                </a:solidFill>
                <a:latin typeface="Calibri"/>
              </a:rPr>
              <a:t> = cross-area integration contracts: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200" b="1" i="0">
                <a:solidFill>
                  <a:srgbClr val="0B2447"/>
                </a:solidFill>
                <a:latin typeface="Consolas"/>
              </a:rPr>
              <a:t>    CUSTMGMT → ACCTPOST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200" b="1" i="0">
                <a:solidFill>
                  <a:srgbClr val="0B2447"/>
                </a:solidFill>
                <a:latin typeface="Consolas"/>
              </a:rPr>
              <a:t>    DAILYRPT → ACCOUNT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300" b="0" i="1">
                <a:solidFill>
                  <a:srgbClr val="3A4A5A"/>
                </a:solidFill>
                <a:latin typeface="Calibri"/>
              </a:rPr>
              <a:t>These are the seams that drive modernization sequencing and risk.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200" b="1" i="0">
                <a:solidFill>
                  <a:srgbClr val="2E8B57"/>
                </a:solidFill>
                <a:latin typeface="Calibri"/>
              </a:rPr>
              <a:t>Every node &amp; edge links to source_artifact : lines.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149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7000" cy="1143000"/>
          </a:xfrm>
          <a:prstGeom prst="rect">
            <a:avLst/>
          </a:prstGeom>
          <a:solidFill>
            <a:srgbClr val="149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149EC8"/>
                </a:solidFill>
                <a:latin typeface="Calibri"/>
              </a:rPr>
              <a:t>THREE RETRIEVAL/GENERATION PATHS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38912"/>
            <a:ext cx="11338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0B2447"/>
                </a:solidFill>
                <a:latin typeface="Calibri"/>
              </a:rPr>
              <a:t>Same corpus, different trust profiles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417320"/>
          <a:ext cx="1106424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206240"/>
                <a:gridCol w="2468880"/>
                <a:gridCol w="2194560"/>
              </a:tblGrid>
              <a:tr h="777240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Path</a:t>
                      </a:r>
                    </a:p>
                  </a:txBody>
                  <a:tcPr marL="73152" marR="54864" marT="18288" marB="18288" anchor="ctr">
                    <a:solidFill>
                      <a:srgbClr val="0B244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How it works</a:t>
                      </a:r>
                    </a:p>
                  </a:txBody>
                  <a:tcPr marL="73152" marR="54864" marT="18288" marB="18288" anchor="ctr">
                    <a:solidFill>
                      <a:srgbClr val="0B244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Output</a:t>
                      </a:r>
                    </a:p>
                  </a:txBody>
                  <a:tcPr marL="73152" marR="54864" marT="18288" marB="18288" anchor="ctr">
                    <a:solidFill>
                      <a:srgbClr val="0B244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Trust</a:t>
                      </a:r>
                    </a:p>
                  </a:txBody>
                  <a:tcPr marL="73152" marR="54864" marT="18288" marB="18288" anchor="ctr">
                    <a:solidFill>
                      <a:srgbClr val="0B2447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3A4A5A"/>
                          </a:solidFill>
                          <a:latin typeface="Consolas"/>
                        </a:rPr>
                        <a:t>Graph + spec gen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3A4A5A"/>
                          </a:solidFill>
                          <a:latin typeface="Calibri"/>
                        </a:rPr>
                        <a:t>Deterministic parse → typed graph → cluster → spec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3A4A5A"/>
                          </a:solidFill>
                          <a:latin typeface="Calibri"/>
                        </a:rPr>
                        <a:t>Evidence-cited specs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3A4A5A"/>
                          </a:solidFill>
                          <a:latin typeface="Calibri"/>
                        </a:rPr>
                        <a:t>High / auditable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3A4A5A"/>
                          </a:solidFill>
                          <a:latin typeface="Consolas"/>
                        </a:rPr>
                        <a:t>GraphRAG</a:t>
                      </a:r>
                    </a:p>
                  </a:txBody>
                  <a:tcPr marL="73152" marR="54864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3A4A5A"/>
                          </a:solidFill>
                          <a:latin typeface="Calibri"/>
                        </a:rPr>
                        <a:t>LLM extracts entities+rels → communities → reports</a:t>
                      </a:r>
                    </a:p>
                  </a:txBody>
                  <a:tcPr marL="73152" marR="54864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3A4A5A"/>
                          </a:solidFill>
                          <a:latin typeface="Calibri"/>
                        </a:rPr>
                        <a:t>Discovery, summaries</a:t>
                      </a:r>
                    </a:p>
                  </a:txBody>
                  <a:tcPr marL="73152" marR="54864" marT="18288" marB="18288" anchor="ctr">
                    <a:solidFill>
                      <a:srgbClr val="F2F5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3A4A5A"/>
                          </a:solidFill>
                          <a:latin typeface="Calibri"/>
                        </a:rPr>
                        <a:t>Needs validation</a:t>
                      </a:r>
                    </a:p>
                  </a:txBody>
                  <a:tcPr marL="73152" marR="54864" marT="18288" marB="18288" anchor="ctr">
                    <a:solidFill>
                      <a:srgbClr val="F2F5F8"/>
                    </a:solidFill>
                  </a:tcPr>
                </a:tc>
              </a:tr>
              <a:tr h="777240"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3A4A5A"/>
                          </a:solidFill>
                          <a:latin typeface="Consolas"/>
                        </a:rPr>
                        <a:t>Simple RAG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3A4A5A"/>
                          </a:solidFill>
                          <a:latin typeface="Calibri"/>
                        </a:rPr>
                        <a:t>Chunk → retrieve top-k → stuff → LLM answer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3A4A5A"/>
                          </a:solidFill>
                          <a:latin typeface="Calibri"/>
                        </a:rPr>
                        <a:t>Q&amp;A over corpus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50" b="0" i="0">
                          <a:solidFill>
                            <a:srgbClr val="3A4A5A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marL="73152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66344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400" b="1" i="0">
                <a:solidFill>
                  <a:srgbClr val="149EC8"/>
                </a:solidFill>
                <a:latin typeface="Calibri"/>
              </a:rPr>
              <a:t>▸  </a:t>
            </a:r>
            <a:r>
              <a:rPr sz="1400" b="1" i="0">
                <a:solidFill>
                  <a:srgbClr val="0B2447"/>
                </a:solidFill>
                <a:latin typeface="Calibri"/>
              </a:rPr>
              <a:t>Primary path is the deterministic graph — structure you can stake a plan on.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400" b="1" i="0">
                <a:solidFill>
                  <a:srgbClr val="149EC8"/>
                </a:solidFill>
                <a:latin typeface="Calibri"/>
              </a:rPr>
              <a:t>▸  </a:t>
            </a:r>
            <a:r>
              <a:rPr sz="1400" b="0" i="0">
                <a:solidFill>
                  <a:srgbClr val="3A4A5A"/>
                </a:solidFill>
                <a:latin typeface="Calibri"/>
              </a:rPr>
              <a:t>GraphRAG and RAG are complementary: great for discovery and natural-language exploration, validated against the graph.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400" b="1" i="0">
                <a:solidFill>
                  <a:srgbClr val="149EC8"/>
                </a:solidFill>
                <a:latin typeface="Calibri"/>
              </a:rPr>
              <a:t>▸  </a:t>
            </a:r>
            <a:r>
              <a:rPr sz="1400" b="0" i="0">
                <a:solidFill>
                  <a:srgbClr val="3A4A5A"/>
                </a:solidFill>
                <a:latin typeface="Calibri"/>
              </a:rPr>
              <a:t>Reliability vs coverage: the deterministic path gives typed, stamped edges; GraphRAG gives breadth but untyped, inferred edges.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149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7000" cy="1143000"/>
          </a:xfrm>
          <a:prstGeom prst="rect">
            <a:avLst/>
          </a:prstGeom>
          <a:solidFill>
            <a:srgbClr val="149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149EC8"/>
                </a:solidFill>
                <a:latin typeface="Calibri"/>
              </a:rPr>
              <a:t>GRAPHRAG PATH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38912"/>
            <a:ext cx="11338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0B2447"/>
                </a:solidFill>
                <a:latin typeface="Calibri"/>
              </a:rPr>
              <a:t>Microsoft GraphRAG 3.1, tuned for code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00" b="1" i="0">
                <a:solidFill>
                  <a:srgbClr val="149EC8"/>
                </a:solidFill>
                <a:latin typeface="Calibri"/>
              </a:rPr>
              <a:t>▸  </a:t>
            </a:r>
            <a:r>
              <a:rPr sz="1400" b="0" i="0">
                <a:solidFill>
                  <a:srgbClr val="3A4A5A"/>
                </a:solidFill>
                <a:latin typeface="Calibri"/>
              </a:rPr>
              <a:t>Code-tuned config: entity_types set to the KDM-lite vocabulary (program, function, screen, copybook, datastore, job, handler).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00" b="1" i="0">
                <a:solidFill>
                  <a:srgbClr val="149EC8"/>
                </a:solidFill>
                <a:latin typeface="Calibri"/>
              </a:rPr>
              <a:t>▸  </a:t>
            </a:r>
            <a:r>
              <a:rPr sz="1400" b="0" i="0">
                <a:solidFill>
                  <a:srgbClr val="3A4A5A"/>
                </a:solidFill>
                <a:latin typeface="Calibri"/>
              </a:rPr>
              <a:t>Extraction prompt rewritten with COBOL examples → emits CALLS / READS_FROM / WRITES_TO / USES_COPYBOOK / JOB_RUNS_PROGRAM.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00" b="1" i="0">
                <a:solidFill>
                  <a:srgbClr val="149EC8"/>
                </a:solidFill>
                <a:latin typeface="Calibri"/>
              </a:rPr>
              <a:t>▸  </a:t>
            </a:r>
            <a:r>
              <a:rPr sz="1400" b="0" i="0">
                <a:solidFill>
                  <a:srgbClr val="3A4A5A"/>
                </a:solidFill>
                <a:latin typeface="Calibri"/>
              </a:rPr>
              <a:t>GraphML snapshot on → load the LLM-built graph into Neo4j alongside the deterministic one.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00" b="1" i="0">
                <a:solidFill>
                  <a:srgbClr val="149EC8"/>
                </a:solidFill>
                <a:latin typeface="Calibri"/>
              </a:rPr>
              <a:t>▸  </a:t>
            </a:r>
            <a:r>
              <a:rPr sz="1400" b="1" i="0">
                <a:solidFill>
                  <a:srgbClr val="0B2447"/>
                </a:solidFill>
                <a:latin typeface="Calibri"/>
              </a:rPr>
              <a:t>Runs two ways: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00" b="0" i="0">
                <a:solidFill>
                  <a:srgbClr val="8A97A3"/>
                </a:solidFill>
                <a:latin typeface="Calibri"/>
              </a:rPr>
              <a:t>      –  </a:t>
            </a:r>
            <a:r>
              <a:rPr sz="1200" b="0" i="0">
                <a:solidFill>
                  <a:srgbClr val="3A4A5A"/>
                </a:solidFill>
                <a:latin typeface="Calibri"/>
              </a:rPr>
              <a:t>In Claude-on-the-web sandbox: Anthropic completion, embeddings-free workflow (extract → communities → reports → global search).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200" b="0" i="0">
                <a:solidFill>
                  <a:srgbClr val="8A97A3"/>
                </a:solidFill>
                <a:latin typeface="Calibri"/>
              </a:rPr>
              <a:t>      –  </a:t>
            </a:r>
            <a:r>
              <a:rPr sz="1200" b="0" i="0">
                <a:solidFill>
                  <a:srgbClr val="3A4A5A"/>
                </a:solidFill>
                <a:latin typeface="Calibri"/>
              </a:rPr>
              <a:t>Locally: OpenAI / Together with embeddings → full pipeline incl. local &amp; DRIFT search.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400" b="1" i="0">
                <a:solidFill>
                  <a:srgbClr val="149EC8"/>
                </a:solidFill>
                <a:latin typeface="Calibri"/>
              </a:rPr>
              <a:t>▸  </a:t>
            </a:r>
            <a:r>
              <a:rPr sz="1400" b="1" i="0">
                <a:solidFill>
                  <a:srgbClr val="2E8B57"/>
                </a:solidFill>
                <a:latin typeface="Calibri"/>
              </a:rPr>
              <a:t>Verified end-to-end to the LLM boundary: loads docs → chunks → dispatches a Claude extraction call per document. A valid key completes the run.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943600"/>
            <a:ext cx="11064240" cy="548640"/>
          </a:xfrm>
          <a:prstGeom prst="rect">
            <a:avLst/>
          </a:prstGeom>
          <a:solidFill>
            <a:srgbClr val="0B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016752"/>
            <a:ext cx="106984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300" b="1" i="0">
                <a:solidFill>
                  <a:srgbClr val="E89B1D"/>
                </a:solidFill>
                <a:latin typeface="Calibri"/>
              </a:rPr>
              <a:t>Network reality:  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sandbox allowlists Anthropic only; OpenAI/Together hosts run locally. Config documents both paths.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149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7000" cy="1143000"/>
          </a:xfrm>
          <a:prstGeom prst="rect">
            <a:avLst/>
          </a:prstGeom>
          <a:solidFill>
            <a:srgbClr val="149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149EC8"/>
                </a:solidFill>
                <a:latin typeface="Calibri"/>
              </a:rPr>
              <a:t>TRANSITION TO TCS / MASTERCRAFT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38912"/>
            <a:ext cx="11338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0B2447"/>
                </a:solidFill>
                <a:latin typeface="Calibri"/>
              </a:rPr>
              <a:t>One box changes — everything downstream is reused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554480"/>
            <a:ext cx="2514600" cy="1371600"/>
          </a:xfrm>
          <a:prstGeom prst="rect">
            <a:avLst/>
          </a:prstGeom>
          <a:solidFill>
            <a:srgbClr val="E89B1D"/>
          </a:solidFill>
          <a:ln w="31750">
            <a:solidFill>
              <a:srgbClr val="E89B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74520"/>
            <a:ext cx="2331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MasterCraft</a:t>
            </a:r>
          </a:p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inventory export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1170432"/>
            <a:ext cx="1600200" cy="347472"/>
          </a:xfrm>
          <a:prstGeom prst="rect">
            <a:avLst/>
          </a:prstGeom>
          <a:solidFill>
            <a:srgbClr val="E89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 i="0">
                <a:solidFill>
                  <a:srgbClr val="0B2447"/>
                </a:solidFill>
                <a:latin typeface="Calibri"/>
              </a:rPr>
              <a:t>CHANGES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54680" y="201168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3A4A5A"/>
                </a:solidFill>
                <a:latin typeface="Calibri"/>
              </a:rPr>
              <a:t>▶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720" y="1554480"/>
            <a:ext cx="2514600" cy="1371600"/>
          </a:xfrm>
          <a:prstGeom prst="rect">
            <a:avLst/>
          </a:prstGeom>
          <a:solidFill>
            <a:srgbClr val="149EC8"/>
          </a:solidFill>
          <a:ln w="31750">
            <a:solidFill>
              <a:srgbClr val="149E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1874520"/>
            <a:ext cx="2331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Adapter</a:t>
            </a:r>
          </a:p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(maps to KDM-lite)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31920" y="1170432"/>
            <a:ext cx="1600200" cy="347472"/>
          </a:xfrm>
          <a:prstGeom prst="rect">
            <a:avLst/>
          </a:prstGeom>
          <a:solidFill>
            <a:srgbClr val="E89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 i="0">
                <a:solidFill>
                  <a:srgbClr val="0B2447"/>
                </a:solidFill>
                <a:latin typeface="Calibri"/>
              </a:rPr>
              <a:t>CHANGES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89320" y="201168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3A4A5A"/>
                </a:solidFill>
                <a:latin typeface="Calibri"/>
              </a:rPr>
              <a:t>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1554480"/>
            <a:ext cx="2514600" cy="1371600"/>
          </a:xfrm>
          <a:prstGeom prst="rect">
            <a:avLst/>
          </a:prstGeom>
          <a:solidFill>
            <a:srgbClr val="FFFFFF"/>
          </a:solidFill>
          <a:ln w="31750">
            <a:solidFill>
              <a:srgbClr val="0B24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874520"/>
            <a:ext cx="2331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0B2447"/>
                </a:solidFill>
                <a:latin typeface="Calibri"/>
              </a:rPr>
              <a:t>Same graph.json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12280" y="1170432"/>
            <a:ext cx="1508760" cy="34747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REUSED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23960" y="2011680"/>
            <a:ext cx="320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1800" b="1" i="0">
                <a:solidFill>
                  <a:srgbClr val="3A4A5A"/>
                </a:solidFill>
                <a:latin typeface="Calibri"/>
              </a:rPr>
              <a:t>▶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0" y="1554480"/>
            <a:ext cx="2514600" cy="1371600"/>
          </a:xfrm>
          <a:prstGeom prst="rect">
            <a:avLst/>
          </a:prstGeom>
          <a:solidFill>
            <a:srgbClr val="FFFFFF"/>
          </a:solidFill>
          <a:ln w="31750">
            <a:solidFill>
              <a:srgbClr val="3A4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0" y="1874520"/>
            <a:ext cx="2331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3A4A5A"/>
                </a:solidFill>
                <a:latin typeface="Calibri"/>
              </a:rPr>
              <a:t>Neo4j · cluster ·</a:t>
            </a:r>
          </a:p>
          <a:p>
            <a:pPr algn="ctr">
              <a:lnSpc>
                <a:spcPct val="100000"/>
              </a:lnSpc>
              <a:spcAft>
                <a:spcPts val="200"/>
              </a:spcAft>
            </a:pPr>
            <a:r>
              <a:rPr sz="1400" b="1" i="0">
                <a:solidFill>
                  <a:srgbClr val="3A4A5A"/>
                </a:solidFill>
                <a:latin typeface="Calibri"/>
              </a:rPr>
              <a:t>specs · GraphRAG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646920" y="1170432"/>
            <a:ext cx="1508760" cy="347472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REUSED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3566160"/>
            <a:ext cx="11064240" cy="5120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00" b="1" i="0">
                <a:solidFill>
                  <a:srgbClr val="149EC8"/>
                </a:solidFill>
                <a:latin typeface="Calibri"/>
              </a:rPr>
              <a:t>▸  </a:t>
            </a:r>
            <a:r>
              <a:rPr sz="1500" b="1" i="0">
                <a:solidFill>
                  <a:srgbClr val="0B2447"/>
                </a:solidFill>
                <a:latin typeface="Calibri"/>
              </a:rPr>
              <a:t>Choosing a KDM-aligned schema for the sandbox is what makes this a remapping of sources, not a redesign.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00" b="1" i="0">
                <a:solidFill>
                  <a:srgbClr val="149EC8"/>
                </a:solidFill>
                <a:latin typeface="Calibri"/>
              </a:rPr>
              <a:t>▸  </a:t>
            </a:r>
            <a:r>
              <a:rPr sz="1500" b="0" i="0">
                <a:solidFill>
                  <a:srgbClr val="3A4A5A"/>
                </a:solidFill>
                <a:latin typeface="Calibri"/>
              </a:rPr>
              <a:t>graph.json format, Neo4j loader, clustering, spec generation, GraphRAG config — all reused unchanged.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00" b="1" i="0">
                <a:solidFill>
                  <a:srgbClr val="149EC8"/>
                </a:solidFill>
                <a:latin typeface="Calibri"/>
              </a:rPr>
              <a:t>▸  </a:t>
            </a:r>
            <a:r>
              <a:rPr sz="1500" b="1" i="0">
                <a:solidFill>
                  <a:srgbClr val="2E8B57"/>
                </a:solidFill>
                <a:latin typeface="Calibri"/>
              </a:rPr>
              <a:t>De-risks the TCS engagement: the hard parts (schema, clustering, evidence, specs) are proven on open code first.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38100"/>
          </a:xfrm>
          <a:prstGeom prst="rect">
            <a:avLst/>
          </a:prstGeom>
          <a:solidFill>
            <a:srgbClr val="149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7000" cy="1143000"/>
          </a:xfrm>
          <a:prstGeom prst="rect">
            <a:avLst/>
          </a:prstGeom>
          <a:solidFill>
            <a:srgbClr val="149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64592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200" b="1" i="0">
                <a:solidFill>
                  <a:srgbClr val="149EC8"/>
                </a:solidFill>
                <a:latin typeface="Calibri"/>
              </a:rPr>
              <a:t>ROADMAP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38912"/>
            <a:ext cx="11338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0B2447"/>
                </a:solidFill>
                <a:latin typeface="Calibri"/>
              </a:rPr>
              <a:t>Where we are and what's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508760"/>
            <a:ext cx="110642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508760"/>
            <a:ext cx="914400" cy="1078992"/>
          </a:xfrm>
          <a:prstGeom prst="rect">
            <a:avLst/>
          </a:prstGeom>
          <a:solidFill>
            <a:srgbClr val="0B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801368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1655064"/>
            <a:ext cx="69494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700" b="1" i="0">
                <a:solidFill>
                  <a:srgbClr val="0B2447"/>
                </a:solidFill>
                <a:latin typeface="Calibri"/>
              </a:rPr>
              <a:t>Schema alignment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0" i="0">
                <a:solidFill>
                  <a:srgbClr val="3A4A5A"/>
                </a:solidFill>
                <a:latin typeface="Calibri"/>
              </a:rPr>
              <a:t>Confirm MasterCraft export maps onto KDM-lite nodes/edges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38360" y="1856232"/>
            <a:ext cx="1691640" cy="384048"/>
          </a:xfrm>
          <a:prstGeom prst="rect">
            <a:avLst/>
          </a:prstGeom>
          <a:solidFill>
            <a:srgbClr val="149E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Ready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60904"/>
            <a:ext cx="110642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660904"/>
            <a:ext cx="914400" cy="1078992"/>
          </a:xfrm>
          <a:prstGeom prst="rect">
            <a:avLst/>
          </a:prstGeom>
          <a:solidFill>
            <a:srgbClr val="0B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953512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2807208"/>
            <a:ext cx="69494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700" b="1" i="0">
                <a:solidFill>
                  <a:srgbClr val="0B2447"/>
                </a:solidFill>
                <a:latin typeface="Calibri"/>
              </a:rPr>
              <a:t>This sandbox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0" i="0">
                <a:solidFill>
                  <a:srgbClr val="3A4A5A"/>
                </a:solidFill>
                <a:latin typeface="Calibri"/>
              </a:rPr>
              <a:t>Prove extract → graph → cluster → spec on open COBOL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8360" y="3008376"/>
            <a:ext cx="1691640" cy="384048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Done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813048"/>
            <a:ext cx="110642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813048"/>
            <a:ext cx="914400" cy="1078992"/>
          </a:xfrm>
          <a:prstGeom prst="rect">
            <a:avLst/>
          </a:prstGeom>
          <a:solidFill>
            <a:srgbClr val="0B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105656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3959352"/>
            <a:ext cx="69494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700" b="1" i="0">
                <a:solidFill>
                  <a:srgbClr val="0B2447"/>
                </a:solidFill>
                <a:latin typeface="Calibri"/>
              </a:rPr>
              <a:t>GraphRAG enrichment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0" i="0">
                <a:solidFill>
                  <a:srgbClr val="3A4A5A"/>
                </a:solidFill>
                <a:latin typeface="Calibri"/>
              </a:rPr>
              <a:t>Semantic retrieval + richer narratives; broaden coverage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738360" y="4160520"/>
            <a:ext cx="1691640" cy="384048"/>
          </a:xfrm>
          <a:prstGeom prst="rect">
            <a:avLst/>
          </a:prstGeom>
          <a:solidFill>
            <a:srgbClr val="E89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In progress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965192"/>
            <a:ext cx="110642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5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965192"/>
            <a:ext cx="914400" cy="1078992"/>
          </a:xfrm>
          <a:prstGeom prst="rect">
            <a:avLst/>
          </a:prstGeom>
          <a:solidFill>
            <a:srgbClr val="0B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5257800"/>
            <a:ext cx="914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45920" y="5111496"/>
            <a:ext cx="69494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700" b="1" i="0">
                <a:solidFill>
                  <a:srgbClr val="0B2447"/>
                </a:solidFill>
                <a:latin typeface="Calibri"/>
              </a:rPr>
              <a:t>Target mapping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0" i="0">
                <a:solidFill>
                  <a:srgbClr val="3A4A5A"/>
                </a:solidFill>
                <a:latin typeface="Calibri"/>
              </a:rPr>
              <a:t>MAPS_TO_TARGET edges, capability specs, modernization backlog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738360" y="5312664"/>
            <a:ext cx="1691640" cy="384048"/>
          </a:xfrm>
          <a:prstGeom prst="rect">
            <a:avLst/>
          </a:prstGeom>
          <a:solidFill>
            <a:srgbClr val="8A97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Planned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4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777240"/>
            <a:ext cx="1463040" cy="76200"/>
          </a:xfrm>
          <a:prstGeom prst="rect">
            <a:avLst/>
          </a:prstGeom>
          <a:solidFill>
            <a:srgbClr val="E89B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What this gives 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828800"/>
            <a:ext cx="1060704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1600"/>
              </a:spcAft>
            </a:pPr>
            <a:r>
              <a:rPr sz="1800" b="1" i="0">
                <a:solidFill>
                  <a:srgbClr val="E89B1D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A proven, evidence-first pipeline from legacy source to grounded functional specs.</a:t>
            </a:r>
          </a:p>
          <a:p>
            <a:pPr algn="l">
              <a:lnSpc>
                <a:spcPct val="110000"/>
              </a:lnSpc>
              <a:spcAft>
                <a:spcPts val="1600"/>
              </a:spcAft>
            </a:pPr>
            <a:r>
              <a:rPr sz="1800" b="1" i="0">
                <a:solidFill>
                  <a:srgbClr val="E89B1D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A KDM-aligned graph that transfers to TCS/MasterCraft by swapping one component.</a:t>
            </a:r>
          </a:p>
          <a:p>
            <a:pPr algn="l">
              <a:lnSpc>
                <a:spcPct val="110000"/>
              </a:lnSpc>
              <a:spcAft>
                <a:spcPts val="1600"/>
              </a:spcAft>
            </a:pPr>
            <a:r>
              <a:rPr sz="1800" b="1" i="0">
                <a:solidFill>
                  <a:srgbClr val="E89B1D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GraphRAG + RAG layered on top for discovery — validated against a deterministic spine.</a:t>
            </a:r>
          </a:p>
          <a:p>
            <a:pPr algn="l">
              <a:lnSpc>
                <a:spcPct val="110000"/>
              </a:lnSpc>
              <a:spcAft>
                <a:spcPts val="1600"/>
              </a:spcAft>
            </a:pPr>
            <a:r>
              <a:rPr sz="1800" b="1" i="0">
                <a:solidFill>
                  <a:srgbClr val="E89B1D"/>
                </a:solidFill>
                <a:latin typeface="Calibri"/>
              </a:rPr>
              <a:t>▸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De-risked path: the architecture is exercised on open COBOL before touching client code.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4343400"/>
            <a:ext cx="10515600" cy="1828800"/>
          </a:xfrm>
          <a:prstGeom prst="rect">
            <a:avLst/>
          </a:prstGeom>
          <a:solidFill>
            <a:srgbClr val="103355"/>
          </a:solidFill>
          <a:ln w="19050">
            <a:solidFill>
              <a:srgbClr val="149E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526280"/>
            <a:ext cx="100584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800" b="1" i="0">
                <a:solidFill>
                  <a:srgbClr val="E89B1D"/>
                </a:solidFill>
                <a:latin typeface="Calibri"/>
              </a:rPr>
              <a:t>Asks / next steps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1.  Get a MasterCraft inventory export sample to validate the KDM-lite mapping (Phase 0).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2.  Confirm target-state vocabulary so we can design MAPS_TO_TARGET edges (Phase 3).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3.  Decide GraphRAG scope: discovery aid vs. part of the deliverable.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